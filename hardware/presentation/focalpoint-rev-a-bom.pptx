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05840"/>
            <a:ext cx="6675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venir Next"/>
              </a:defRPr>
            </a:pPr>
            <a:r>
              <a:t>FocalPoint Rev A</a:t>
            </a:r>
          </a:p>
          <a:p>
            <a:pPr>
              <a:defRPr sz="2500">
                <a:solidFill>
                  <a:srgbClr val="B6CCFF"/>
                </a:solidFill>
                <a:latin typeface="Avenir Next"/>
              </a:defRPr>
            </a:pPr>
            <a:r>
              <a:t>Two-device bill of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6217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FFFFFF"/>
                </a:solidFill>
                <a:latin typeface="Avenir Next"/>
              </a:defRPr>
            </a:pPr>
            <a:r>
              <a:t>16 dynamically mapped inputs</a:t>
            </a:r>
          </a:p>
          <a:p>
            <a:pPr>
              <a:spcAft>
                <a:spcPts val="1100"/>
              </a:spcAft>
              <a:defRPr sz="1700">
                <a:solidFill>
                  <a:srgbClr val="FFFFFF"/>
                </a:solidFill>
                <a:latin typeface="Avenir Next"/>
              </a:defRPr>
            </a:pPr>
            <a:r>
              <a:t>Wireless + USB-C • 1,000 mAh • per-key RGB</a:t>
            </a:r>
          </a:p>
          <a:p>
            <a:pPr>
              <a:spcAft>
                <a:spcPts val="1100"/>
              </a:spcAft>
              <a:defRPr sz="1700">
                <a:solidFill>
                  <a:srgbClr val="FFFFFF"/>
                </a:solidFill>
                <a:latin typeface="Avenir Next"/>
              </a:defRPr>
            </a:pPr>
            <a:r>
              <a:t>Prototype procurement decision — 28 July 2026</a:t>
            </a:r>
          </a:p>
        </p:txBody>
      </p:sp>
      <p:pic>
        <p:nvPicPr>
          <p:cNvPr id="5" name="Picture 4" descr="focalpoint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023360" cy="28738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1C24"/>
                </a:solidFill>
                <a:latin typeface="Avenir Next"/>
              </a:defRPr>
            </a:pPr>
            <a:r>
              <a:t>What we are building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06773"/>
                </a:solidFill>
                <a:latin typeface="Avenir Next"/>
              </a:defRPr>
            </a:pPr>
            <a:r>
              <a:t>The BOM follows the current square enclosure and 16-input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64008" cy="1828800"/>
          </a:xfrm>
          <a:prstGeom prst="rect">
            <a:avLst/>
          </a:prstGeom>
          <a:solidFill>
            <a:srgbClr val="39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3063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C24"/>
                </a:solidFill>
                <a:latin typeface="Avenir Next"/>
              </a:defRPr>
            </a:pPr>
            <a:r>
              <a:t>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67128"/>
            <a:ext cx="3063239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06773"/>
                </a:solidFill>
                <a:latin typeface="Avenir Next"/>
              </a:defRPr>
            </a:pPr>
            <a:r>
              <a:t>13 tactile MX keys</a:t>
            </a:r>
            <a:br/>
            <a:r>
              <a:t>1 analog joystick + push</a:t>
            </a:r>
            <a:br/>
            <a:r>
              <a:t>1 rotary encoder + push</a:t>
            </a:r>
            <a:br/>
            <a:r>
              <a:t>1 capacitive touch region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002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600200"/>
            <a:ext cx="64008" cy="1828800"/>
          </a:xfrm>
          <a:prstGeom prst="rect">
            <a:avLst/>
          </a:prstGeom>
          <a:solidFill>
            <a:srgbClr val="239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64792"/>
            <a:ext cx="3063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C24"/>
                </a:solidFill>
                <a:latin typeface="Avenir Next"/>
              </a:defRPr>
            </a:pPr>
            <a:r>
              <a:t>Industrial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67128"/>
            <a:ext cx="3063239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06773"/>
                </a:solidFill>
                <a:latin typeface="Avenir Next"/>
              </a:defRPr>
            </a:pPr>
            <a:r>
              <a:t>114 × 114 mm square shell</a:t>
            </a:r>
            <a:br/>
            <a:r>
              <a:t>6 mm corner radius</a:t>
            </a:r>
            <a:br/>
            <a:r>
              <a:t>4° key-plane slope</a:t>
            </a:r>
            <a:br/>
            <a:r>
              <a:t>86 mm circular bottom puck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002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600200"/>
            <a:ext cx="64008" cy="1828800"/>
          </a:xfrm>
          <a:prstGeom prst="rect">
            <a:avLst/>
          </a:prstGeom>
          <a:solidFill>
            <a:srgbClr val="D78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764792"/>
            <a:ext cx="3063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C24"/>
                </a:solidFill>
                <a:latin typeface="Avenir Next"/>
              </a:defRPr>
            </a:pPr>
            <a:r>
              <a:t>User 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167128"/>
            <a:ext cx="3063239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06773"/>
                </a:solidFill>
                <a:latin typeface="Avenir Next"/>
              </a:defRPr>
            </a:pPr>
            <a:r>
              <a:t>Every input remappable</a:t>
            </a:r>
            <a:br/>
            <a:r>
              <a:t>BLE and wired USB</a:t>
            </a:r>
            <a:br/>
            <a:r>
              <a:t>13 individually addressed RGB keys</a:t>
            </a:r>
            <a:br/>
            <a:r>
              <a:t>Clear caps + one ceramic accent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6908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91C24"/>
                </a:solidFill>
                <a:latin typeface="Avenir Next"/>
              </a:defRPr>
            </a:pPr>
            <a:r>
              <a:t>The supplied visual sketch is an aesthetic reference; the electrical count remains the previously specified 4×4 set of sixteen logical inputs.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510528"/>
            <a:ext cx="10881360" cy="10972"/>
          </a:xfrm>
          <a:prstGeom prst="rect">
            <a:avLst/>
          </a:prstGeom>
          <a:solidFill>
            <a:srgbClr val="DC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0" y="65379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773"/>
                </a:solidFill>
                <a:latin typeface="Avenir Next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1C24"/>
                </a:solidFill>
                <a:latin typeface="Avenir Next"/>
              </a:defRPr>
            </a:pPr>
            <a:r>
              <a:t>Electronics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06773"/>
                </a:solidFill>
                <a:latin typeface="Avenir Next"/>
              </a:defRPr>
            </a:pPr>
            <a:r>
              <a:t>Exact primary components for each of the two devices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64008" cy="1691640"/>
          </a:xfrm>
          <a:prstGeom prst="rect">
            <a:avLst/>
          </a:prstGeom>
          <a:solidFill>
            <a:srgbClr val="39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73351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C24"/>
                </a:solidFill>
                <a:latin typeface="Avenir Next"/>
              </a:defRPr>
            </a:pPr>
            <a:r>
              <a:t>Compute + radio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75688"/>
            <a:ext cx="301752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06773"/>
                </a:solidFill>
                <a:latin typeface="Avenir Next"/>
              </a:defRPr>
            </a:pPr>
            <a:r>
              <a:t>Raytac MDBT50Q-1MV2</a:t>
            </a:r>
            <a:br/>
            <a:r>
              <a:t>nRF52840 certified module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0876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508760"/>
            <a:ext cx="64008" cy="1691640"/>
          </a:xfrm>
          <a:prstGeom prst="rect">
            <a:avLst/>
          </a:prstGeom>
          <a:solidFill>
            <a:srgbClr val="239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73351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C24"/>
                </a:solidFill>
                <a:latin typeface="Avenir Next"/>
              </a:defRPr>
            </a:pPr>
            <a:r>
              <a:t>Power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075688"/>
            <a:ext cx="301752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06773"/>
                </a:solidFill>
                <a:latin typeface="Avenir Next"/>
              </a:defRPr>
            </a:pPr>
            <a:r>
              <a:t>TI BQ24074 charger</a:t>
            </a:r>
            <a:br/>
            <a:r>
              <a:t>TPS63031 3.3 V buck-boost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50876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19" y="1508760"/>
            <a:ext cx="64008" cy="1691640"/>
          </a:xfrm>
          <a:prstGeom prst="rect">
            <a:avLst/>
          </a:prstGeom>
          <a:solidFill>
            <a:srgbClr val="D78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1673351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C24"/>
                </a:solidFill>
                <a:latin typeface="Avenir Next"/>
              </a:defRPr>
            </a:pPr>
            <a:r>
              <a:t>RGB power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2075688"/>
            <a:ext cx="301752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06773"/>
                </a:solidFill>
                <a:latin typeface="Avenir Next"/>
              </a:defRPr>
            </a:pPr>
            <a:r>
              <a:t>TPS61023 5 V boost</a:t>
            </a:r>
            <a:br/>
            <a:r>
              <a:t>TPS22918 switch + AHCT buffer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6616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566160"/>
            <a:ext cx="64008" cy="1691640"/>
          </a:xfrm>
          <a:prstGeom prst="rect">
            <a:avLst/>
          </a:prstGeom>
          <a:solidFill>
            <a:srgbClr val="39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73075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C24"/>
                </a:solidFill>
                <a:latin typeface="Avenir Next"/>
              </a:defRPr>
            </a:pPr>
            <a:r>
              <a:t>Sensors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133087"/>
            <a:ext cx="301752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06773"/>
                </a:solidFill>
                <a:latin typeface="Avenir Next"/>
              </a:defRPr>
            </a:pPr>
            <a:r>
              <a:t>Alps RKJX21224001 joystick</a:t>
            </a:r>
            <a:br/>
            <a:r>
              <a:t>AT42QT1010 touch</a:t>
            </a:r>
            <a:br/>
            <a:r>
              <a:t>MAX17048 fuel gauge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56616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3566160"/>
            <a:ext cx="64008" cy="1691640"/>
          </a:xfrm>
          <a:prstGeom prst="rect">
            <a:avLst/>
          </a:prstGeom>
          <a:solidFill>
            <a:srgbClr val="239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373075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C24"/>
                </a:solidFill>
                <a:latin typeface="Avenir Next"/>
              </a:defRPr>
            </a:pPr>
            <a:r>
              <a:t>Connectivity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133087"/>
            <a:ext cx="301752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06773"/>
                </a:solidFill>
                <a:latin typeface="Avenir Next"/>
              </a:defRPr>
            </a:pPr>
            <a:r>
              <a:t>GCT USB4105 USB-C</a:t>
            </a:r>
            <a:br/>
            <a:r>
              <a:t>TI USB ESD + Nexperia VBUS TVS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356616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19" y="3566160"/>
            <a:ext cx="64008" cy="1691640"/>
          </a:xfrm>
          <a:prstGeom prst="rect">
            <a:avLst/>
          </a:prstGeom>
          <a:solidFill>
            <a:srgbClr val="D78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19" y="373075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C24"/>
                </a:solidFill>
                <a:latin typeface="Avenir Next"/>
              </a:defRPr>
            </a:pPr>
            <a:r>
              <a:t>Battery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4133087"/>
            <a:ext cx="301752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06773"/>
                </a:solidFill>
                <a:latin typeface="Avenir Next"/>
              </a:defRPr>
            </a:pPr>
            <a:r>
              <a:t>TinyCircuits ASR00012</a:t>
            </a:r>
            <a:br/>
            <a:r>
              <a:t>Protected 1,000 mAh; 1 A max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6510528"/>
            <a:ext cx="10881360" cy="10972"/>
          </a:xfrm>
          <a:prstGeom prst="rect">
            <a:avLst/>
          </a:prstGeom>
          <a:solidFill>
            <a:srgbClr val="DC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98480" y="65379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773"/>
                </a:solidFill>
                <a:latin typeface="Avenir Next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1C24"/>
                </a:solidFill>
                <a:latin typeface="Avenir Next"/>
              </a:defRPr>
            </a:pPr>
            <a:r>
              <a:t>Exactly two devices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06773"/>
                </a:solidFill>
                <a:latin typeface="Avenir Next"/>
              </a:defRPr>
            </a:pPr>
            <a:r>
              <a:t>No third assembled unit and no discretionary spare quantities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64008" cy="1828800"/>
          </a:xfrm>
          <a:prstGeom prst="rect">
            <a:avLst/>
          </a:prstGeom>
          <a:solidFill>
            <a:srgbClr val="39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19072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C24"/>
                </a:solidFill>
                <a:latin typeface="Avenir Next"/>
              </a:defRPr>
            </a:pPr>
            <a:r>
              <a:t>26 each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21408"/>
            <a:ext cx="29718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06773"/>
                </a:solidFill>
                <a:latin typeface="Avenir Next"/>
              </a:defRPr>
            </a:pPr>
            <a:r>
              <a:t>Kailh Polia switches</a:t>
            </a:r>
            <a:br/>
            <a:r>
              <a:t>Kailh hot-swap sockets</a:t>
            </a:r>
            <a:br/>
            <a:r>
              <a:t>1N4148W matrix diodes</a:t>
            </a:r>
            <a:br/>
            <a:r>
              <a:t>12 mA SK6812MINI-E LEDs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554480"/>
            <a:ext cx="64008" cy="1828800"/>
          </a:xfrm>
          <a:prstGeom prst="rect">
            <a:avLst/>
          </a:prstGeom>
          <a:solidFill>
            <a:srgbClr val="239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719072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C24"/>
                </a:solidFill>
                <a:latin typeface="Avenir Next"/>
              </a:defRPr>
            </a:pPr>
            <a:r>
              <a:t>2 each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121408"/>
            <a:ext cx="29718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06773"/>
                </a:solidFill>
                <a:latin typeface="Avenir Next"/>
              </a:defRPr>
            </a:pPr>
            <a:r>
              <a:t>Radio modules • batteries</a:t>
            </a:r>
            <a:br/>
            <a:r>
              <a:t>USB-C • joystick • encoder</a:t>
            </a:r>
            <a:br/>
            <a:r>
              <a:t>Every power and sensor IC</a:t>
            </a:r>
            <a:br/>
            <a:r>
              <a:t>JST-SH battery connectors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554480"/>
            <a:ext cx="64008" cy="1828800"/>
          </a:xfrm>
          <a:prstGeom prst="rect">
            <a:avLst/>
          </a:prstGeom>
          <a:solidFill>
            <a:srgbClr val="D78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719072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C24"/>
                </a:solidFill>
                <a:latin typeface="Avenir Next"/>
              </a:defRPr>
            </a:pPr>
            <a:r>
              <a:t>Pack minimums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121408"/>
            <a:ext cx="29718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06773"/>
                </a:solidFill>
                <a:latin typeface="Avenir Next"/>
              </a:defRPr>
            </a:pPr>
            <a:r>
              <a:t>2 × Adafruit 5068 12-cap packs</a:t>
            </a:r>
            <a:br/>
            <a:r>
              <a:t>1 × Cerakey four-cap pack</a:t>
            </a:r>
            <a:br/>
            <a:r>
              <a:t>1 silicone sheet + adhesive</a:t>
            </a:r>
            <a:br/>
            <a:r>
              <a:t>5 bare PCBs may be fab minimum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40480"/>
            <a:ext cx="10149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191C24"/>
                </a:solidFill>
                <a:latin typeface="Avenir Next"/>
              </a:defRPr>
            </a:pPr>
            <a:r>
              <a:t>57 frozen BOM lines include per-board reference designators, fabricated parts, and reusable programming tools.</a:t>
            </a:r>
          </a:p>
          <a:p>
            <a:pPr>
              <a:spcAft>
                <a:spcPts val="1100"/>
              </a:spcAft>
              <a:defRPr sz="1600">
                <a:solidFill>
                  <a:srgbClr val="191C24"/>
                </a:solidFill>
                <a:latin typeface="Avenir Next"/>
              </a:defRPr>
            </a:pPr>
            <a:r>
              <a:t>JLC attrition quantities are manufacturing consumables—not parts for a third device.</a:t>
            </a:r>
          </a:p>
          <a:p>
            <a:pPr>
              <a:spcAft>
                <a:spcPts val="1100"/>
              </a:spcAft>
              <a:defRPr sz="1600">
                <a:solidFill>
                  <a:srgbClr val="191C24"/>
                </a:solidFill>
                <a:latin typeface="Avenir Next"/>
              </a:defRPr>
            </a:pPr>
            <a:r>
              <a:t>The machine-readable CSV is the purchasing authority for quantities.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510528"/>
            <a:ext cx="10881360" cy="10972"/>
          </a:xfrm>
          <a:prstGeom prst="rect">
            <a:avLst/>
          </a:prstGeom>
          <a:solidFill>
            <a:srgbClr val="DC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0" y="65379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773"/>
                </a:solidFill>
                <a:latin typeface="Avenir Next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1C24"/>
                </a:solidFill>
                <a:latin typeface="Avenir Next"/>
              </a:defRPr>
            </a:pPr>
            <a:r>
              <a:t>Who assembles what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06773"/>
                </a:solidFill>
                <a:latin typeface="Avenir Next"/>
              </a:defRPr>
            </a:pPr>
            <a:r>
              <a:t>Designed around no at-home reflow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16636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64008" cy="3520440"/>
          </a:xfrm>
          <a:prstGeom prst="rect">
            <a:avLst/>
          </a:prstGeom>
          <a:solidFill>
            <a:srgbClr val="39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1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C24"/>
                </a:solidFill>
                <a:latin typeface="Avenir Next"/>
              </a:defRPr>
            </a:pPr>
            <a:r>
              <a:t>JLCPCB / contract manufacturer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75688"/>
            <a:ext cx="4754880" cy="2807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06773"/>
                </a:solidFill>
                <a:latin typeface="Avenir Next"/>
              </a:defRPr>
            </a:pPr>
            <a:r>
              <a:t>All SMT passives and ICs</a:t>
            </a:r>
            <a:br/>
            <a:r>
              <a:t>Raytac radio module</a:t>
            </a:r>
            <a:br/>
            <a:r>
              <a:t>BQ24074 QFN charger</a:t>
            </a:r>
            <a:br/>
            <a:r>
              <a:t>Power converters and protection</a:t>
            </a:r>
            <a:br/>
            <a:r>
              <a:t>13 reverse-mounted RGB LEDs</a:t>
            </a:r>
            <a:br/>
            <a:r>
              <a:t>13 hot-swap sockets + diodes</a:t>
            </a:r>
            <a:br/>
            <a:r>
              <a:t>USB-C hybrid assembly preferred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08760"/>
            <a:ext cx="516636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508760"/>
            <a:ext cx="64008" cy="3520440"/>
          </a:xfrm>
          <a:prstGeom prst="rect">
            <a:avLst/>
          </a:prstGeom>
          <a:solidFill>
            <a:srgbClr val="239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73351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C24"/>
                </a:solidFill>
                <a:latin typeface="Avenir Next"/>
              </a:defRPr>
            </a:pPr>
            <a:r>
              <a:t>Hand assembly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75688"/>
            <a:ext cx="4754880" cy="2807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06773"/>
                </a:solidFill>
                <a:latin typeface="Avenir Next"/>
              </a:defRPr>
            </a:pPr>
            <a:r>
              <a:t>Install encoder and joystick</a:t>
            </a:r>
            <a:br/>
            <a:r>
              <a:t>Insert MX switches and keycaps</a:t>
            </a:r>
            <a:br/>
            <a:r>
              <a:t>Connect protected battery</a:t>
            </a:r>
            <a:br/>
            <a:r>
              <a:t>Install heat-set inserts and screws</a:t>
            </a:r>
            <a:br/>
            <a:r>
              <a:t>Fit printed enclosure parts</a:t>
            </a:r>
            <a:br/>
            <a:r>
              <a:t>Cut/apply circular silicone pad</a:t>
            </a:r>
            <a:br/>
            <a:r>
              <a:t>Program and run acceptance 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510528"/>
            <a:ext cx="10881360" cy="10972"/>
          </a:xfrm>
          <a:prstGeom prst="rect">
            <a:avLst/>
          </a:prstGeom>
          <a:solidFill>
            <a:srgbClr val="DC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0" y="65379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773"/>
                </a:solidFill>
                <a:latin typeface="Avenir Next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1C24"/>
                </a:solidFill>
                <a:latin typeface="Avenir Next"/>
              </a:defRPr>
            </a:pPr>
            <a:r>
              <a:t>Power budget and non-negotiable limits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63040"/>
            <a:ext cx="35204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463040"/>
            <a:ext cx="64008" cy="1965960"/>
          </a:xfrm>
          <a:prstGeom prst="rect">
            <a:avLst/>
          </a:prstGeom>
          <a:solidFill>
            <a:srgbClr val="39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2763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C24"/>
                </a:solidFill>
                <a:latin typeface="Avenir Next"/>
              </a:defRPr>
            </a:pPr>
            <a:r>
              <a:t>RGB 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29968"/>
            <a:ext cx="310896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06773"/>
                </a:solidFill>
                <a:latin typeface="Avenir Next"/>
              </a:defRPr>
            </a:pPr>
            <a:r>
              <a:t>13 × 12 mA channels</a:t>
            </a:r>
            <a:br/>
            <a:r>
              <a:t>≈169 mA total at 5 V incl. static</a:t>
            </a:r>
            <a:br/>
            <a:r>
              <a:t>≈313 mA battery draw at 3.0 V</a:t>
            </a:r>
            <a:br/>
            <a:r>
              <a:t>Firmware cap: 156 mA channels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5204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463040"/>
            <a:ext cx="64008" cy="1965960"/>
          </a:xfrm>
          <a:prstGeom prst="rect">
            <a:avLst/>
          </a:prstGeom>
          <a:solidFill>
            <a:srgbClr val="239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2763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C24"/>
                </a:solidFill>
                <a:latin typeface="Avenir Next"/>
              </a:defRPr>
            </a:pPr>
            <a:r>
              <a:t>Battery + charging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29968"/>
            <a:ext cx="310896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06773"/>
                </a:solidFill>
                <a:latin typeface="Avenir Next"/>
              </a:defRPr>
            </a:pPr>
            <a:r>
              <a:t>1,000 mAh protected cell</a:t>
            </a:r>
            <a:br/>
            <a:r>
              <a:t>1 A maximum discharge</a:t>
            </a:r>
            <a:br/>
            <a:r>
              <a:t>Target total draw &lt;0.45 A</a:t>
            </a:r>
            <a:br/>
            <a:r>
              <a:t>Charge limited to ≈0.4 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463040"/>
            <a:ext cx="35204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01000" y="1463040"/>
            <a:ext cx="64008" cy="1965960"/>
          </a:xfrm>
          <a:prstGeom prst="rect">
            <a:avLst/>
          </a:prstGeom>
          <a:solidFill>
            <a:srgbClr val="D78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62763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C24"/>
                </a:solidFill>
                <a:latin typeface="Avenir Next"/>
              </a:defRPr>
            </a:pPr>
            <a:r>
              <a:t>Thermal constraint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029968"/>
            <a:ext cx="310896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06773"/>
                </a:solidFill>
                <a:latin typeface="Avenir Next"/>
              </a:defRPr>
            </a:pPr>
            <a:r>
              <a:t>BQ24074 may dissipate ≈0.8 W</a:t>
            </a:r>
            <a:br/>
            <a:r>
              <a:t>Thermal copper/vias required</a:t>
            </a:r>
            <a:br/>
            <a:r>
              <a:t>Closed-case charge test mandatory</a:t>
            </a:r>
            <a:br/>
            <a:r>
              <a:t>No USB-PD claim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6908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91C24"/>
                </a:solidFill>
                <a:latin typeface="Avenir Next"/>
              </a:defRPr>
            </a:pPr>
            <a:r>
              <a:t>Do not substitute generic 60 mA-per-pixel LEDs.</a:t>
            </a:r>
          </a:p>
          <a:p>
            <a:pPr>
              <a:spcAft>
                <a:spcPts val="1100"/>
              </a:spcAft>
              <a:defRPr sz="1800">
                <a:solidFill>
                  <a:srgbClr val="191C24"/>
                </a:solidFill>
                <a:latin typeface="Avenir Next"/>
              </a:defRPr>
            </a:pPr>
            <a:r>
              <a:t>The RGB rail defaults off and is enabled only after controlled startup.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510528"/>
            <a:ext cx="10881360" cy="10972"/>
          </a:xfrm>
          <a:prstGeom prst="rect">
            <a:avLst/>
          </a:prstGeom>
          <a:solidFill>
            <a:srgbClr val="DC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0" y="65379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773"/>
                </a:solidFill>
                <a:latin typeface="Avenir Next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1C24"/>
                </a:solidFill>
                <a:latin typeface="Avenir Next"/>
              </a:defRPr>
            </a:pPr>
            <a:r>
              <a:t>Two-device prototype 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06773"/>
                </a:solidFill>
                <a:latin typeface="Avenir Next"/>
              </a:defRPr>
            </a:pPr>
            <a:r>
              <a:t>Planning allowance; final price comes from live JLC and distributor carts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64008" cy="2011680"/>
          </a:xfrm>
          <a:prstGeom prst="rect">
            <a:avLst/>
          </a:prstGeom>
          <a:solidFill>
            <a:srgbClr val="39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1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C24"/>
                </a:solidFill>
                <a:latin typeface="Avenir Next"/>
              </a:defRPr>
            </a:pPr>
            <a:r>
              <a:t>PCBs + assembly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75688"/>
            <a:ext cx="297180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06773"/>
                </a:solidFill>
                <a:latin typeface="Avenir Next"/>
              </a:defRPr>
            </a:pPr>
            <a:r>
              <a:t>$110–190</a:t>
            </a:r>
            <a:br/>
            <a:r>
              <a:t>Five bare boards may be the fabrication minimum; populate only two. Includes double-sided setup and ordinary SMT labor.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508760"/>
            <a:ext cx="64008" cy="2011680"/>
          </a:xfrm>
          <a:prstGeom prst="rect">
            <a:avLst/>
          </a:prstGeom>
          <a:solidFill>
            <a:srgbClr val="239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73351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C24"/>
                </a:solidFill>
                <a:latin typeface="Avenir Next"/>
              </a:defRPr>
            </a:pPr>
            <a:r>
              <a:t>Controls + mechanics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075688"/>
            <a:ext cx="297180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06773"/>
                </a:solidFill>
                <a:latin typeface="Avenir Next"/>
              </a:defRPr>
            </a:pPr>
            <a:r>
              <a:t>$90–170</a:t>
            </a:r>
            <a:br/>
            <a:r>
              <a:t>Switches, caps, joysticks, encoders, batteries, hardware, printed parts, and foot material.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0876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508760"/>
            <a:ext cx="64008" cy="2011680"/>
          </a:xfrm>
          <a:prstGeom prst="rect">
            <a:avLst/>
          </a:prstGeom>
          <a:solidFill>
            <a:srgbClr val="D78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673351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C24"/>
                </a:solidFill>
                <a:latin typeface="Avenir Next"/>
              </a:defRPr>
            </a:pPr>
            <a:r>
              <a:t>Shipping + contingency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075688"/>
            <a:ext cx="297180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06773"/>
                </a:solidFill>
                <a:latin typeface="Avenir Next"/>
              </a:defRPr>
            </a:pPr>
            <a:r>
              <a:t>$50–100</a:t>
            </a:r>
            <a:br/>
            <a:r>
              <a:t>Multiple vendors, taxes, rare-part loading, and first-article rework allowance.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06908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91C24"/>
                </a:solidFill>
                <a:latin typeface="Avenir Next"/>
              </a:defRPr>
            </a:pPr>
            <a:r>
              <a:t>$250–460 total  •  $125–230 per working prototype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510528"/>
            <a:ext cx="10881360" cy="10972"/>
          </a:xfrm>
          <a:prstGeom prst="rect">
            <a:avLst/>
          </a:prstGeom>
          <a:solidFill>
            <a:srgbClr val="DC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0" y="65379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773"/>
                </a:solidFill>
                <a:latin typeface="Avenir Next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1C24"/>
                </a:solidFill>
                <a:latin typeface="Avenir Next"/>
              </a:defRPr>
            </a:pPr>
            <a:r>
              <a:t>Before placing the complete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06773"/>
                </a:solidFill>
                <a:latin typeface="Avenir Next"/>
              </a:defRPr>
            </a:pPr>
            <a:r>
              <a:t>The BOM is selected; product validation still depends on the PCB and physical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91C24"/>
                </a:solidFill>
                <a:latin typeface="Avenir Next"/>
              </a:defRPr>
            </a:pPr>
            <a:r>
              <a:t>Complete schematic and four-layer routing; pass ERC/DRC and independent review.</a:t>
            </a:r>
          </a:p>
          <a:p>
            <a:pPr>
              <a:spcAft>
                <a:spcPts val="1100"/>
              </a:spcAft>
              <a:defRPr sz="1800">
                <a:solidFill>
                  <a:srgbClr val="191C24"/>
                </a:solidFill>
                <a:latin typeface="Avenir Next"/>
              </a:defRPr>
            </a:pPr>
            <a:r>
              <a:t>Replace every placeholder with its exact manufacturer footprint and STEP model.</a:t>
            </a:r>
          </a:p>
          <a:p>
            <a:pPr>
              <a:spcAft>
                <a:spcPts val="1100"/>
              </a:spcAft>
              <a:defRPr sz="1800">
                <a:solidFill>
                  <a:srgbClr val="191C24"/>
                </a:solidFill>
                <a:latin typeface="Avenir Next"/>
              </a:defRPr>
            </a:pPr>
            <a:r>
              <a:t>Redesign battery pocket, joystick opening/tail path, USB opening, and insert bosses.</a:t>
            </a:r>
          </a:p>
          <a:p>
            <a:pPr>
              <a:spcAft>
                <a:spcPts val="1100"/>
              </a:spcAft>
              <a:defRPr sz="1800">
                <a:solidFill>
                  <a:srgbClr val="191C24"/>
                </a:solidFill>
                <a:latin typeface="Avenir Next"/>
              </a:defRPr>
            </a:pPr>
            <a:r>
              <a:t>Verify radio antenna keep-out against copper, battery, screws, and circular base.</a:t>
            </a:r>
          </a:p>
          <a:p>
            <a:pPr>
              <a:spcAft>
                <a:spcPts val="1100"/>
              </a:spcAft>
              <a:defRPr sz="1800">
                <a:solidFill>
                  <a:srgbClr val="191C24"/>
                </a:solidFill>
                <a:latin typeface="Avenir Next"/>
              </a:defRPr>
            </a:pPr>
            <a:r>
              <a:t>Validate every JLC MPN, side, rotation, and package in the live order preview.</a:t>
            </a:r>
          </a:p>
          <a:p>
            <a:pPr>
              <a:spcAft>
                <a:spcPts val="1100"/>
              </a:spcAft>
              <a:defRPr sz="1800">
                <a:solidFill>
                  <a:srgbClr val="191C24"/>
                </a:solidFill>
                <a:latin typeface="Avenir Next"/>
              </a:defRPr>
            </a:pPr>
            <a:r>
              <a:t>Build two units; test power, charging temperature, USB, BLE range, RGB, touch, all controls, and enclosure fit.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510528"/>
            <a:ext cx="10881360" cy="10972"/>
          </a:xfrm>
          <a:prstGeom prst="rect">
            <a:avLst/>
          </a:prstGeom>
          <a:solidFill>
            <a:srgbClr val="DC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5379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773"/>
                </a:solidFill>
                <a:latin typeface="Avenir Next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1C24"/>
                </a:solidFill>
                <a:latin typeface="Avenir Next"/>
              </a:defRPr>
            </a:pPr>
            <a:r>
              <a:t>Recommendation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508760"/>
            <a:ext cx="50749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508760"/>
            <a:ext cx="64008" cy="3383280"/>
          </a:xfrm>
          <a:prstGeom prst="rect">
            <a:avLst/>
          </a:prstGeom>
          <a:solidFill>
            <a:srgbClr val="239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673351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C24"/>
                </a:solidFill>
                <a:latin typeface="Avenir Next"/>
              </a:defRPr>
            </a:pPr>
            <a:r>
              <a:t>Buy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075688"/>
            <a:ext cx="4663440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06773"/>
                </a:solidFill>
                <a:latin typeface="Avenir Next"/>
              </a:defRPr>
            </a:pPr>
            <a:r>
              <a:t>Two batteries for fit checks</a:t>
            </a:r>
            <a:br/>
            <a:r>
              <a:t>Two joysticks and encoders</a:t>
            </a:r>
            <a:br/>
            <a:r>
              <a:t>Two keycap packs + ceramic pack</a:t>
            </a:r>
            <a:br/>
            <a:r>
              <a:t>Switches and mechanical samples</a:t>
            </a:r>
            <a:br/>
            <a:r>
              <a:t>Programming cable / nRF52840-DK if needed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508760"/>
            <a:ext cx="50749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508760"/>
            <a:ext cx="64008" cy="3383280"/>
          </a:xfrm>
          <a:prstGeom prst="rect">
            <a:avLst/>
          </a:prstGeom>
          <a:solidFill>
            <a:srgbClr val="D78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73351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C24"/>
                </a:solidFill>
                <a:latin typeface="Avenir Next"/>
              </a:defRPr>
            </a:pPr>
            <a:r>
              <a:t>Hold until layout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75688"/>
            <a:ext cx="4663440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06773"/>
                </a:solidFill>
                <a:latin typeface="Avenir Next"/>
              </a:defRPr>
            </a:pPr>
            <a:r>
              <a:t>JLC assembled PCB order</a:t>
            </a:r>
            <a:br/>
            <a:r>
              <a:t>Final printed enclosure batch</a:t>
            </a:r>
            <a:br/>
            <a:r>
              <a:t>Custom-cut production foot pads</a:t>
            </a:r>
            <a:br/>
            <a:r>
              <a:t>Any volume purchase beyond the two devices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2578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606773"/>
                </a:solidFill>
                <a:latin typeface="Avenir Next"/>
              </a:defRPr>
            </a:pPr>
            <a:r>
              <a:t>Procurement source: hardware/bom.csv</a:t>
            </a:r>
          </a:p>
          <a:p>
            <a:pPr>
              <a:spcAft>
                <a:spcPts val="1100"/>
              </a:spcAft>
              <a:defRPr sz="1500">
                <a:solidFill>
                  <a:srgbClr val="606773"/>
                </a:solidFill>
                <a:latin typeface="Avenir Next"/>
              </a:defRPr>
            </a:pPr>
            <a:r>
              <a:t>Engineering rationale and gates: hardware/BOM.md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510528"/>
            <a:ext cx="10881360" cy="10972"/>
          </a:xfrm>
          <a:prstGeom prst="rect">
            <a:avLst/>
          </a:prstGeom>
          <a:solidFill>
            <a:srgbClr val="DC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0" y="65379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773"/>
                </a:solidFill>
                <a:latin typeface="Avenir Next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